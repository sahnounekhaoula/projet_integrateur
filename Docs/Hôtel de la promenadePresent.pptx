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6"/>
  </p:notesMasterIdLst>
  <p:sldIdLst>
    <p:sldId id="256" r:id="rId5"/>
    <p:sldId id="257" r:id="rId6"/>
    <p:sldId id="258" r:id="rId7"/>
    <p:sldId id="263" r:id="rId8"/>
    <p:sldId id="264" r:id="rId9"/>
    <p:sldId id="259" r:id="rId10"/>
    <p:sldId id="260" r:id="rId11"/>
    <p:sldId id="261" r:id="rId12"/>
    <p:sldId id="262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79FAB-720F-4F82-8910-167AA60B5167}" v="16" dt="2026-03-27T12:50:08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EBB1A-AC38-4BA7-B676-952DC3F91BCA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04121-C236-4EAC-9617-324E29B79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5399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704121-C236-4EAC-9617-324E29B79B53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5751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60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5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5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95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5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5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53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06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0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50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54A1FC3-D51F-49C5-A520-3CB3BF1C0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D6A395-8B77-4B2D-AA7E-1B4CE370C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Black 3D wave patterns">
            <a:extLst>
              <a:ext uri="{FF2B5EF4-FFF2-40B4-BE49-F238E27FC236}">
                <a16:creationId xmlns:a16="http://schemas.microsoft.com/office/drawing/2014/main" id="{BC18AEAC-CCC0-623D-93D9-412910B088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6C06FB-3551-C33F-C2A0-1A943BF04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2499"/>
            <a:ext cx="5060498" cy="3251855"/>
          </a:xfrm>
        </p:spPr>
        <p:txBody>
          <a:bodyPr>
            <a:normAutofit fontScale="90000"/>
          </a:bodyPr>
          <a:lstStyle/>
          <a:p>
            <a:r>
              <a:rPr lang="fr-CA" sz="3600" noProof="0" dirty="0">
                <a:solidFill>
                  <a:srgbClr val="FFFFFF"/>
                </a:solidFill>
              </a:rPr>
              <a:t>Hôtel de la promenade </a:t>
            </a:r>
            <a:br>
              <a:rPr lang="fr-CA" sz="3600" noProof="0" dirty="0">
                <a:solidFill>
                  <a:srgbClr val="FFFFFF"/>
                </a:solidFill>
              </a:rPr>
            </a:br>
            <a:br>
              <a:rPr lang="fr-CA" sz="3600" noProof="0" dirty="0">
                <a:solidFill>
                  <a:srgbClr val="FFFFFF"/>
                </a:solidFill>
              </a:rPr>
            </a:br>
            <a:br>
              <a:rPr lang="fr-CA" sz="3600" noProof="0" dirty="0">
                <a:solidFill>
                  <a:srgbClr val="FFFFFF"/>
                </a:solidFill>
              </a:rPr>
            </a:br>
            <a:r>
              <a:rPr lang="fr-CA" sz="3600" noProof="0" dirty="0">
                <a:solidFill>
                  <a:srgbClr val="FFFFFF"/>
                </a:solidFill>
              </a:rPr>
              <a:t>Application Web</a:t>
            </a:r>
            <a:br>
              <a:rPr lang="fr-CA" sz="3600" noProof="0" dirty="0">
                <a:solidFill>
                  <a:srgbClr val="FFFFFF"/>
                </a:solidFill>
              </a:rPr>
            </a:br>
            <a:br>
              <a:rPr lang="fr-CA" sz="3600" noProof="0" dirty="0">
                <a:solidFill>
                  <a:srgbClr val="FFFFFF"/>
                </a:solidFill>
              </a:rPr>
            </a:br>
            <a:br>
              <a:rPr lang="fr-CA" sz="3600" noProof="0" dirty="0">
                <a:solidFill>
                  <a:srgbClr val="FFFFFF"/>
                </a:solidFill>
              </a:rPr>
            </a:br>
            <a:r>
              <a:rPr lang="fr-CA" sz="3600" noProof="0" dirty="0">
                <a:solidFill>
                  <a:srgbClr val="FFFFFF"/>
                </a:solidFill>
              </a:rPr>
              <a:t>Gestion d’évènement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BCE3B5-1992-0C51-A7E2-ED178AD83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76" y="4527857"/>
            <a:ext cx="9348176" cy="1520988"/>
          </a:xfrm>
        </p:spPr>
        <p:txBody>
          <a:bodyPr anchor="b">
            <a:normAutofit/>
          </a:bodyPr>
          <a:lstStyle/>
          <a:p>
            <a:r>
              <a:rPr lang="fr-CA" noProof="0" dirty="0">
                <a:solidFill>
                  <a:srgbClr val="FFFFFF"/>
                </a:solidFill>
              </a:rPr>
              <a:t>Développeur :</a:t>
            </a:r>
            <a:br>
              <a:rPr lang="fr-CA" noProof="0" dirty="0">
                <a:solidFill>
                  <a:srgbClr val="FFFFFF"/>
                </a:solidFill>
              </a:rPr>
            </a:br>
            <a:r>
              <a:rPr lang="fr-CA" noProof="0" dirty="0">
                <a:solidFill>
                  <a:srgbClr val="FFFFFF"/>
                </a:solidFill>
              </a:rPr>
              <a:t>Gabriel Labrosse | </a:t>
            </a:r>
            <a:r>
              <a:rPr lang="fr-CA" noProof="0" dirty="0" err="1">
                <a:solidFill>
                  <a:srgbClr val="FFFFFF"/>
                </a:solidFill>
              </a:rPr>
              <a:t>Khaoula</a:t>
            </a:r>
            <a:r>
              <a:rPr lang="fr-CA" noProof="0" dirty="0">
                <a:solidFill>
                  <a:srgbClr val="FFFFFF"/>
                </a:solidFill>
              </a:rPr>
              <a:t> </a:t>
            </a:r>
            <a:r>
              <a:rPr lang="fr-CA" noProof="0" dirty="0" err="1">
                <a:solidFill>
                  <a:srgbClr val="FFFFFF"/>
                </a:solidFill>
              </a:rPr>
              <a:t>Sahnoune</a:t>
            </a:r>
            <a:r>
              <a:rPr lang="fr-CA" noProof="0" dirty="0">
                <a:solidFill>
                  <a:srgbClr val="FFFFFF"/>
                </a:solidFill>
              </a:rPr>
              <a:t> | Hocine Abdallah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C5372E1-5D0A-4FE4-B20F-D0CF85FD0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13081F5-C318-4421-A7E9-D7F6810B6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723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C8145-DC3C-DAA8-5B50-428585D2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F5909C3-F68E-6455-DC27-650F1315A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6132EE-51F3-BB20-C6C2-C115B0049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Black 3D wave patterns">
            <a:extLst>
              <a:ext uri="{FF2B5EF4-FFF2-40B4-BE49-F238E27FC236}">
                <a16:creationId xmlns:a16="http://schemas.microsoft.com/office/drawing/2014/main" id="{3EF98C41-12B8-4917-4FF0-5EA701CAC3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19F91B-5FD2-316D-5CDF-51E21B976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78715"/>
            <a:ext cx="10905066" cy="3525639"/>
          </a:xfrm>
        </p:spPr>
        <p:txBody>
          <a:bodyPr>
            <a:normAutofit/>
          </a:bodyPr>
          <a:lstStyle/>
          <a:p>
            <a:pPr algn="ctr"/>
            <a:r>
              <a:rPr lang="fr-CA" sz="1800" dirty="0">
                <a:solidFill>
                  <a:srgbClr val="FFFFFF"/>
                </a:solidFill>
              </a:rPr>
              <a:t>Présentation globale du Frontend (UI)</a:t>
            </a:r>
            <a:endParaRPr lang="fr-CA" sz="18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338C85-021D-4807-08DF-5807A6146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76" y="5156852"/>
            <a:ext cx="10993756" cy="1152839"/>
          </a:xfrm>
        </p:spPr>
        <p:txBody>
          <a:bodyPr anchor="b">
            <a:normAutofit/>
          </a:bodyPr>
          <a:lstStyle/>
          <a:p>
            <a:r>
              <a:rPr lang="fr-CA">
                <a:solidFill>
                  <a:srgbClr val="FFFFFF"/>
                </a:solidFill>
              </a:rPr>
              <a:t>Côté Client </a:t>
            </a:r>
            <a:endParaRPr lang="fr-CA" noProof="0" dirty="0">
              <a:solidFill>
                <a:srgbClr val="FFFFFF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6266AB7-F9BE-D581-C246-6F7A5F115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1AB3DD0-243F-E0BA-3B0C-64E8CF34B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4421659-63FE-1D65-5E20-16940B527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47" y="1193473"/>
            <a:ext cx="4472930" cy="2235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E878D3-6767-353D-AAD8-6015677C6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47" y="3666543"/>
            <a:ext cx="4472930" cy="22355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BAB4DD-CF5B-959C-6686-C6801DD8A8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5" y="1223599"/>
            <a:ext cx="4472928" cy="22355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DAF277-00B3-AB23-BDC6-CC725F45A7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5" y="3666543"/>
            <a:ext cx="2103856" cy="24233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40130E-2320-FCD0-2990-97426727FB44}"/>
              </a:ext>
            </a:extLst>
          </p:cNvPr>
          <p:cNvSpPr txBox="1"/>
          <p:nvPr/>
        </p:nvSpPr>
        <p:spPr>
          <a:xfrm>
            <a:off x="8824689" y="3758002"/>
            <a:ext cx="2093976" cy="2052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CA" dirty="0">
                <a:solidFill>
                  <a:schemeClr val="bg1"/>
                </a:solidFill>
              </a:rPr>
              <a:t>Connexion Client OU </a:t>
            </a:r>
            <a:br>
              <a:rPr lang="en-CA" dirty="0">
                <a:solidFill>
                  <a:schemeClr val="bg1"/>
                </a:solidFill>
              </a:rPr>
            </a:br>
            <a:r>
              <a:rPr lang="en-CA" dirty="0">
                <a:solidFill>
                  <a:schemeClr val="bg1"/>
                </a:solidFill>
              </a:rPr>
              <a:t>Connexion Staff</a:t>
            </a:r>
          </a:p>
        </p:txBody>
      </p:sp>
    </p:spTree>
    <p:extLst>
      <p:ext uri="{BB962C8B-B14F-4D97-AF65-F5344CB8AC3E}">
        <p14:creationId xmlns:p14="http://schemas.microsoft.com/office/powerpoint/2010/main" val="260376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BB111-BAAC-C3F0-26BF-1FEA37357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5CC25C9-F4D2-53CD-A337-FE9F49975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86A19E-8EC3-F0D5-3889-0746E9411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Black 3D wave patterns">
            <a:extLst>
              <a:ext uri="{FF2B5EF4-FFF2-40B4-BE49-F238E27FC236}">
                <a16:creationId xmlns:a16="http://schemas.microsoft.com/office/drawing/2014/main" id="{AA98DBB2-1093-3870-7254-CADECA710C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F2810C-A774-FAE7-B744-9E03F5890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78717"/>
            <a:ext cx="10905066" cy="3525637"/>
          </a:xfrm>
        </p:spPr>
        <p:txBody>
          <a:bodyPr>
            <a:normAutofit/>
          </a:bodyPr>
          <a:lstStyle/>
          <a:p>
            <a:pPr algn="ctr"/>
            <a:r>
              <a:rPr lang="fr-CA" sz="1800" dirty="0">
                <a:solidFill>
                  <a:srgbClr val="FFFFFF"/>
                </a:solidFill>
              </a:rPr>
              <a:t>Présentation du Frontend (UI)</a:t>
            </a:r>
            <a:endParaRPr lang="fr-CA" sz="18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242B6-DA8A-66D7-7F78-D2ACDE152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76" y="4527856"/>
            <a:ext cx="10993756" cy="1781837"/>
          </a:xfrm>
        </p:spPr>
        <p:txBody>
          <a:bodyPr anchor="b">
            <a:normAutofit/>
          </a:bodyPr>
          <a:lstStyle/>
          <a:p>
            <a:r>
              <a:rPr lang="fr-CA" noProof="0" dirty="0">
                <a:solidFill>
                  <a:srgbClr val="FFFFFF"/>
                </a:solidFill>
              </a:rPr>
              <a:t>Côté Administrateur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99D101-53C6-FBA5-2D5B-8F77044DB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967588-221D-9291-5676-3837DBA9D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9F04B20-E01B-D728-C754-5675A8680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9" y="766244"/>
            <a:ext cx="3152639" cy="16487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FAD59A-B83C-0232-5AE1-F4369D47F3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5" y="4306333"/>
            <a:ext cx="3152643" cy="15853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6F34C3-B5A5-8E61-F852-6F1AA44072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5" y="2651915"/>
            <a:ext cx="3152643" cy="15524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C203F4-AA75-4432-E5F6-8E9DCBF7EF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114" y="922508"/>
            <a:ext cx="2100662" cy="5143398"/>
          </a:xfrm>
          <a:prstGeom prst="rect">
            <a:avLst/>
          </a:prstGeom>
        </p:spPr>
      </p:pic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05AD269-5581-0388-62D1-3598A26E6470}"/>
              </a:ext>
            </a:extLst>
          </p:cNvPr>
          <p:cNvCxnSpPr>
            <a:stCxn id="10" idx="3"/>
          </p:cNvCxnSpPr>
          <p:nvPr/>
        </p:nvCxnSpPr>
        <p:spPr>
          <a:xfrm>
            <a:off x="3796108" y="1590634"/>
            <a:ext cx="4114006" cy="17145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292ED04-0A79-BC5B-DE1A-BE9756CC3A1F}"/>
              </a:ext>
            </a:extLst>
          </p:cNvPr>
          <p:cNvCxnSpPr>
            <a:cxnSpLocks/>
          </p:cNvCxnSpPr>
          <p:nvPr/>
        </p:nvCxnSpPr>
        <p:spPr>
          <a:xfrm flipV="1">
            <a:off x="3796108" y="3322424"/>
            <a:ext cx="4114005" cy="17938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3C974F-44F6-B4FF-6D11-F8C1AA63B2B5}"/>
              </a:ext>
            </a:extLst>
          </p:cNvPr>
          <p:cNvCxnSpPr>
            <a:cxnSpLocks/>
          </p:cNvCxnSpPr>
          <p:nvPr/>
        </p:nvCxnSpPr>
        <p:spPr>
          <a:xfrm>
            <a:off x="3796108" y="3303309"/>
            <a:ext cx="4114005" cy="19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49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B9E304-9033-A61B-9AF2-F6A64A48A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2B43B7F-BC9F-D2AF-E80A-B6F740928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DFC1CE-CDCD-6B8F-E83D-3CBC501AA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Black 3D wave patterns">
            <a:extLst>
              <a:ext uri="{FF2B5EF4-FFF2-40B4-BE49-F238E27FC236}">
                <a16:creationId xmlns:a16="http://schemas.microsoft.com/office/drawing/2014/main" id="{057FCF49-A69F-74A6-5F98-691EFBAB07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29761C-4D18-28C3-BA60-4ACD941B7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78713"/>
            <a:ext cx="10905066" cy="3525641"/>
          </a:xfrm>
        </p:spPr>
        <p:txBody>
          <a:bodyPr>
            <a:normAutofit/>
          </a:bodyPr>
          <a:lstStyle/>
          <a:p>
            <a:pPr algn="ctr"/>
            <a:br>
              <a:rPr lang="fr-CA" sz="1800" dirty="0">
                <a:solidFill>
                  <a:srgbClr val="FFFFFF"/>
                </a:solidFill>
              </a:rPr>
            </a:br>
            <a:r>
              <a:rPr lang="fr-CA" sz="1800" dirty="0">
                <a:solidFill>
                  <a:srgbClr val="FFFFFF"/>
                </a:solidFill>
              </a:rPr>
              <a:t>Fonctionnalités</a:t>
            </a:r>
            <a:endParaRPr lang="fr-CA" sz="18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5BEA4-3548-70E0-318C-BF32C4F82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76" y="4757058"/>
            <a:ext cx="10993756" cy="1552631"/>
          </a:xfrm>
        </p:spPr>
        <p:txBody>
          <a:bodyPr anchor="b">
            <a:normAutofit/>
          </a:bodyPr>
          <a:lstStyle/>
          <a:p>
            <a:endParaRPr lang="fr-CA" noProof="0" dirty="0">
              <a:solidFill>
                <a:srgbClr val="FFFFFF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85C037-4743-0849-5C1A-51DE68E3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366F523-7957-929C-B6F6-229F51455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75524B3-FB2D-436C-493B-A0D235FA7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821" y="3599697"/>
            <a:ext cx="5399711" cy="27099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ED8501-354B-EDE1-76CE-D7E09A3717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5" y="4039061"/>
            <a:ext cx="5541225" cy="22706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857636-84F2-5830-E899-C75EBEF2FD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5" y="1224870"/>
            <a:ext cx="9764486" cy="220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70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C3C3E-AA70-4984-5EFA-C15F166D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210B67F-9E15-577D-0C34-BDD8E2F14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5E3CCE-DEC1-85D3-F815-C440B3045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Black 3D wave patterns">
            <a:extLst>
              <a:ext uri="{FF2B5EF4-FFF2-40B4-BE49-F238E27FC236}">
                <a16:creationId xmlns:a16="http://schemas.microsoft.com/office/drawing/2014/main" id="{E26C73A8-6132-5882-98C7-D19D30AC0C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409B6C-97FD-F245-2886-A66C30CD6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78713"/>
            <a:ext cx="10905066" cy="3525641"/>
          </a:xfrm>
        </p:spPr>
        <p:txBody>
          <a:bodyPr>
            <a:normAutofit/>
          </a:bodyPr>
          <a:lstStyle/>
          <a:p>
            <a:pPr algn="ctr"/>
            <a:br>
              <a:rPr lang="fr-CA" sz="1800" dirty="0">
                <a:solidFill>
                  <a:srgbClr val="FFFFFF"/>
                </a:solidFill>
              </a:rPr>
            </a:br>
            <a:r>
              <a:rPr lang="fr-CA" sz="1800" dirty="0">
                <a:solidFill>
                  <a:srgbClr val="FFFFFF"/>
                </a:solidFill>
              </a:rPr>
              <a:t>Fonctionnalités</a:t>
            </a:r>
            <a:endParaRPr lang="fr-CA" sz="18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27528-AA4C-F180-9D4D-8C9B9BE58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76" y="4527856"/>
            <a:ext cx="10993756" cy="1781833"/>
          </a:xfrm>
        </p:spPr>
        <p:txBody>
          <a:bodyPr anchor="b">
            <a:normAutofit/>
          </a:bodyPr>
          <a:lstStyle/>
          <a:p>
            <a:endParaRPr lang="fr-CA" noProof="0" dirty="0">
              <a:solidFill>
                <a:srgbClr val="FFFFFF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D562671-C012-427A-B1FC-353D3292B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25D5FDF-4DDE-C15F-23DF-04CFA313A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8456DF5-54A8-5FEC-C018-77BB0F2E0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5" y="1304913"/>
            <a:ext cx="4809068" cy="4824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F0CE11-F6D3-28BC-95B1-78A0FEBFB8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304915"/>
            <a:ext cx="5452532" cy="482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60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35684-F8B4-6B4A-81CF-681FD0F5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DBB66C6-0BC8-2778-8179-223D67FD1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8DCFB3-3CA9-79C1-F800-210E7043D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Black 3D wave patterns">
            <a:extLst>
              <a:ext uri="{FF2B5EF4-FFF2-40B4-BE49-F238E27FC236}">
                <a16:creationId xmlns:a16="http://schemas.microsoft.com/office/drawing/2014/main" id="{62AA02DC-0CD3-18A2-C9E9-E515C37302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746C61-143E-068B-E938-D0D151F66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78719"/>
            <a:ext cx="10905066" cy="3525636"/>
          </a:xfrm>
        </p:spPr>
        <p:txBody>
          <a:bodyPr>
            <a:normAutofit/>
          </a:bodyPr>
          <a:lstStyle/>
          <a:p>
            <a:pPr algn="ctr"/>
            <a:r>
              <a:rPr lang="fr-CA" sz="1800" dirty="0">
                <a:solidFill>
                  <a:srgbClr val="FFFFFF"/>
                </a:solidFill>
              </a:rPr>
              <a:t>Architecture du Code et structure des dossiers</a:t>
            </a:r>
            <a:endParaRPr lang="fr-CA" sz="18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139B1-3166-FF43-D73F-9CD1E7139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27856"/>
            <a:ext cx="10905066" cy="1781837"/>
          </a:xfrm>
        </p:spPr>
        <p:txBody>
          <a:bodyPr anchor="b">
            <a:normAutofit/>
          </a:bodyPr>
          <a:lstStyle/>
          <a:p>
            <a:r>
              <a:rPr lang="fr-CA" noProof="0" dirty="0">
                <a:solidFill>
                  <a:srgbClr val="FFFFFF"/>
                </a:solidFill>
              </a:rPr>
              <a:t>Organisation des dossiers de code source.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BF2E183-72F8-1466-6007-B8FCDCDE0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7BDE71-1E33-B911-9DF8-9C5B20F58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6C13120-E407-9912-0482-0ED6733D7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465" y="1051560"/>
            <a:ext cx="5821343" cy="61801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C91AEF-2791-C7D4-7A88-7844606D31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70"/>
          <a:stretch>
            <a:fillRect/>
          </a:stretch>
        </p:blipFill>
        <p:spPr>
          <a:xfrm>
            <a:off x="6742173" y="1051560"/>
            <a:ext cx="4806359" cy="532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05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E5B0C-D7CC-F29C-3DB4-C640600E0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DFE9057-868E-01DD-C3AC-8B4BD72C9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7EDAF0-959F-3F97-BDFE-F82D7F883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Black 3D wave patterns">
            <a:extLst>
              <a:ext uri="{FF2B5EF4-FFF2-40B4-BE49-F238E27FC236}">
                <a16:creationId xmlns:a16="http://schemas.microsoft.com/office/drawing/2014/main" id="{D37C0235-2B35-89D3-8E7C-6191C8C028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F44DD-9E37-BFFF-313F-A317C39D7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78719"/>
            <a:ext cx="10905066" cy="3525636"/>
          </a:xfrm>
        </p:spPr>
        <p:txBody>
          <a:bodyPr>
            <a:normAutofit/>
          </a:bodyPr>
          <a:lstStyle/>
          <a:p>
            <a:pPr algn="ctr"/>
            <a:br>
              <a:rPr lang="fr-CA" sz="1800" dirty="0">
                <a:solidFill>
                  <a:srgbClr val="FFFFFF"/>
                </a:solidFill>
              </a:rPr>
            </a:br>
            <a:r>
              <a:rPr lang="fr-CA" sz="1800" dirty="0">
                <a:solidFill>
                  <a:srgbClr val="FFFFFF"/>
                </a:solidFill>
              </a:rPr>
              <a:t>Authentification | Gestion des rôles</a:t>
            </a:r>
            <a:endParaRPr lang="fr-CA" sz="18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3DB4E-F661-D09D-1117-621B400D0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76" y="4527856"/>
            <a:ext cx="10993756" cy="1781833"/>
          </a:xfrm>
        </p:spPr>
        <p:txBody>
          <a:bodyPr anchor="b">
            <a:normAutofit/>
          </a:bodyPr>
          <a:lstStyle/>
          <a:p>
            <a:r>
              <a:rPr lang="fr-CA" noProof="0" dirty="0">
                <a:solidFill>
                  <a:srgbClr val="FFFFFF"/>
                </a:solidFill>
              </a:rPr>
              <a:t>Utilisation des meilleures pratique pour sécurité et authentification.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EE5D822-F9F0-584E-E89E-7D8A43CAE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09DB7D7-25B7-FBD6-42BE-93C47E440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C8FF648-3DD6-BAB1-39D7-53AE8042D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5" y="1524539"/>
            <a:ext cx="10905067" cy="2056862"/>
          </a:xfrm>
          <a:prstGeom prst="rect">
            <a:avLst/>
          </a:prstGeom>
        </p:spPr>
      </p:pic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4A1383B5-8A01-F9C9-C395-CD3295A1DD63}"/>
              </a:ext>
            </a:extLst>
          </p:cNvPr>
          <p:cNvSpPr/>
          <p:nvPr/>
        </p:nvSpPr>
        <p:spPr>
          <a:xfrm>
            <a:off x="711327" y="3904902"/>
            <a:ext cx="3314700" cy="1399636"/>
          </a:xfrm>
          <a:prstGeom prst="homePlat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Json Web Token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B9500B84-8987-E599-8C6F-C1CF9BDDC625}"/>
              </a:ext>
            </a:extLst>
          </p:cNvPr>
          <p:cNvSpPr/>
          <p:nvPr/>
        </p:nvSpPr>
        <p:spPr>
          <a:xfrm>
            <a:off x="4394304" y="3977765"/>
            <a:ext cx="3314700" cy="1399636"/>
          </a:xfrm>
          <a:prstGeom prst="homePlat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GestionRole.jsx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0C333FCD-1841-3C73-20DE-469DE781B363}"/>
              </a:ext>
            </a:extLst>
          </p:cNvPr>
          <p:cNvSpPr/>
          <p:nvPr/>
        </p:nvSpPr>
        <p:spPr>
          <a:xfrm>
            <a:off x="8077281" y="4029469"/>
            <a:ext cx="3314700" cy="1399636"/>
          </a:xfrm>
          <a:prstGeom prst="homePlat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/>
                </a:solidFill>
              </a:rPr>
              <a:t>Clients || Employ</a:t>
            </a:r>
            <a:r>
              <a:rPr lang="fr-CA" dirty="0">
                <a:solidFill>
                  <a:schemeClr val="bg1"/>
                </a:solidFill>
              </a:rPr>
              <a:t>é</a:t>
            </a:r>
            <a:r>
              <a:rPr lang="en-CA" dirty="0">
                <a:solidFill>
                  <a:schemeClr val="bg1"/>
                </a:solidFill>
              </a:rPr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34160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9E4B3B-3BC2-48E1-412E-E6578F1A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AD15F54-2411-BCE0-4D86-4EF13B828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50C527-68C0-FFA1-D036-8160FCDCA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Black 3D wave patterns">
            <a:extLst>
              <a:ext uri="{FF2B5EF4-FFF2-40B4-BE49-F238E27FC236}">
                <a16:creationId xmlns:a16="http://schemas.microsoft.com/office/drawing/2014/main" id="{86CEAD1A-E151-8A43-47F2-6FF1660380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36BC7C-95F1-10C8-5B89-90DBB435D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78713"/>
            <a:ext cx="10905066" cy="3525641"/>
          </a:xfrm>
        </p:spPr>
        <p:txBody>
          <a:bodyPr>
            <a:normAutofit/>
          </a:bodyPr>
          <a:lstStyle/>
          <a:p>
            <a:pPr algn="ctr"/>
            <a:br>
              <a:rPr lang="fr-CA" sz="1800" dirty="0">
                <a:solidFill>
                  <a:srgbClr val="FFFFFF"/>
                </a:solidFill>
              </a:rPr>
            </a:br>
            <a:r>
              <a:rPr lang="fr-CA" sz="1800" dirty="0">
                <a:solidFill>
                  <a:srgbClr val="FFFFFF"/>
                </a:solidFill>
              </a:rPr>
              <a:t>Tests techniques </a:t>
            </a:r>
            <a:endParaRPr lang="fr-CA" sz="18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392CC-D6C2-FD56-1B59-7861B6022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76" y="4527856"/>
            <a:ext cx="10993756" cy="1781833"/>
          </a:xfrm>
        </p:spPr>
        <p:txBody>
          <a:bodyPr anchor="b">
            <a:normAutofit/>
          </a:bodyPr>
          <a:lstStyle/>
          <a:p>
            <a:r>
              <a:rPr lang="fr-CA" noProof="0" dirty="0">
                <a:solidFill>
                  <a:srgbClr val="FFFFFF"/>
                </a:solidFill>
              </a:rPr>
              <a:t>Tests Gestions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A74B22F-FBC7-A2D6-3ADF-A56C3CD39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8DFC77A-6FE6-9230-567C-3CCB5FB9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E4A3FA5-98D6-3AC0-122C-3604241ED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887" y="3739893"/>
            <a:ext cx="9643534" cy="2345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764FAB-D9E1-9A0F-07B8-7B9C3337E0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" y="1881201"/>
            <a:ext cx="10993756" cy="144417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F840FE-7E44-8078-AA4D-8F1FF8294876}"/>
              </a:ext>
            </a:extLst>
          </p:cNvPr>
          <p:cNvCxnSpPr>
            <a:cxnSpLocks/>
          </p:cNvCxnSpPr>
          <p:nvPr/>
        </p:nvCxnSpPr>
        <p:spPr>
          <a:xfrm>
            <a:off x="643466" y="3611880"/>
            <a:ext cx="1090506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58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03F6EF-581A-259F-9851-BDE7C661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C87B97E-9F08-8887-A4DA-EDAC484A0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1A6F48-BE84-E50A-60A2-F79688EE1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Black 3D wave patterns">
            <a:extLst>
              <a:ext uri="{FF2B5EF4-FFF2-40B4-BE49-F238E27FC236}">
                <a16:creationId xmlns:a16="http://schemas.microsoft.com/office/drawing/2014/main" id="{447D5D3B-8473-3AFF-D477-40E8FB56C4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D3583D-DEEE-ABBB-B018-E020D528F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78713"/>
            <a:ext cx="10905066" cy="3525641"/>
          </a:xfrm>
        </p:spPr>
        <p:txBody>
          <a:bodyPr>
            <a:normAutofit/>
          </a:bodyPr>
          <a:lstStyle/>
          <a:p>
            <a:pPr algn="ctr"/>
            <a:br>
              <a:rPr lang="fr-CA" sz="1800" dirty="0">
                <a:solidFill>
                  <a:srgbClr val="FFFFFF"/>
                </a:solidFill>
              </a:rPr>
            </a:br>
            <a:r>
              <a:rPr lang="fr-CA" sz="1800" dirty="0">
                <a:solidFill>
                  <a:srgbClr val="FFFFFF"/>
                </a:solidFill>
              </a:rPr>
              <a:t>Technologies</a:t>
            </a:r>
            <a:endParaRPr lang="fr-CA" sz="1800" noProof="0" dirty="0">
              <a:solidFill>
                <a:srgbClr val="FFFFFF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BF397CC-8F50-69DD-E808-1F6973C58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A1BE1F-A6C7-D358-EA58-FF66FDA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AEB51D5-FC5F-34F8-E612-2ABB007AA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744" y="1709500"/>
            <a:ext cx="1299277" cy="122869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94224A5-4007-07F9-6B51-253D6AE48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2023" y="1333951"/>
            <a:ext cx="1679262" cy="18599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64022E-F044-A423-ED57-13A4E7BBB4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5" y="1685852"/>
            <a:ext cx="1299277" cy="115615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DD158F8-3C97-C4CA-892F-FBDD13AEDE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12763" y="1550671"/>
            <a:ext cx="1435770" cy="13291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FE740A-6554-3717-9042-7A5EC0992E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287" y="1609008"/>
            <a:ext cx="1329188" cy="13291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7CDA0C8-5F1B-8D58-18FA-718A157AE254}"/>
              </a:ext>
            </a:extLst>
          </p:cNvPr>
          <p:cNvSpPr txBox="1"/>
          <p:nvPr/>
        </p:nvSpPr>
        <p:spPr>
          <a:xfrm>
            <a:off x="554777" y="2955820"/>
            <a:ext cx="2654767" cy="3333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b="1" dirty="0">
                <a:solidFill>
                  <a:schemeClr val="bg1"/>
                </a:solidFill>
              </a:rPr>
              <a:t>🔷 </a:t>
            </a:r>
            <a:r>
              <a:rPr lang="fr-FR" b="1" dirty="0" err="1">
                <a:solidFill>
                  <a:schemeClr val="bg1"/>
                </a:solidFill>
              </a:rPr>
              <a:t>React</a:t>
            </a:r>
            <a:endParaRPr lang="fr-FR" b="1" dirty="0">
              <a:solidFill>
                <a:schemeClr val="bg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Composants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State / </a:t>
            </a:r>
            <a:r>
              <a:rPr lang="fr-FR" b="1" dirty="0" err="1">
                <a:solidFill>
                  <a:schemeClr val="bg1"/>
                </a:solidFill>
              </a:rPr>
              <a:t>Hooks</a:t>
            </a:r>
            <a:r>
              <a:rPr lang="fr-FR" b="1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Interface dynamique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Réutilisabilité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SPA</a:t>
            </a:r>
            <a:endParaRPr lang="en-CA" sz="2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583940-9113-9A84-A5E5-7C2DD71105CC}"/>
              </a:ext>
            </a:extLst>
          </p:cNvPr>
          <p:cNvSpPr txBox="1"/>
          <p:nvPr/>
        </p:nvSpPr>
        <p:spPr>
          <a:xfrm>
            <a:off x="3349059" y="3037325"/>
            <a:ext cx="2548087" cy="3333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b="1" dirty="0">
                <a:solidFill>
                  <a:schemeClr val="bg1"/>
                </a:solidFill>
              </a:rPr>
              <a:t>🔷 Vite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bg1"/>
                </a:solidFill>
              </a:rPr>
              <a:t>Dev server </a:t>
            </a:r>
            <a:r>
              <a:rPr lang="en-CA" b="1" dirty="0" err="1">
                <a:solidFill>
                  <a:schemeClr val="bg1"/>
                </a:solidFill>
              </a:rPr>
              <a:t>rapide</a:t>
            </a:r>
            <a:r>
              <a:rPr lang="en-CA" b="1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bg1"/>
                </a:solidFill>
              </a:rPr>
              <a:t>Hot reload (HMR)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bg1"/>
                </a:solidFill>
              </a:rPr>
              <a:t>Build </a:t>
            </a:r>
            <a:r>
              <a:rPr lang="en-CA" b="1" dirty="0" err="1">
                <a:solidFill>
                  <a:schemeClr val="bg1"/>
                </a:solidFill>
              </a:rPr>
              <a:t>optimisé</a:t>
            </a:r>
            <a:r>
              <a:rPr lang="en-CA" b="1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bg1"/>
                </a:solidFill>
              </a:rPr>
              <a:t>ES Modules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bg1"/>
                </a:solidFill>
              </a:rPr>
              <a:t>Performance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6B7DC8-09F3-A2EE-54D2-F4F2A8761B82}"/>
              </a:ext>
            </a:extLst>
          </p:cNvPr>
          <p:cNvSpPr txBox="1"/>
          <p:nvPr/>
        </p:nvSpPr>
        <p:spPr>
          <a:xfrm>
            <a:off x="6036661" y="3037325"/>
            <a:ext cx="2548087" cy="3333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CA" b="1" dirty="0">
                <a:solidFill>
                  <a:schemeClr val="bg1"/>
                </a:solidFill>
              </a:rPr>
              <a:t>🔷 JavaScript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b="1" dirty="0" err="1">
                <a:solidFill>
                  <a:schemeClr val="bg1"/>
                </a:solidFill>
              </a:rPr>
              <a:t>Langage</a:t>
            </a:r>
            <a:r>
              <a:rPr lang="en-CA" b="1" dirty="0">
                <a:solidFill>
                  <a:schemeClr val="bg1"/>
                </a:solidFill>
              </a:rPr>
              <a:t> principal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b="1" dirty="0" err="1">
                <a:solidFill>
                  <a:schemeClr val="bg1"/>
                </a:solidFill>
              </a:rPr>
              <a:t>Asynchrone</a:t>
            </a:r>
            <a:endParaRPr lang="en-CA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bg1"/>
                </a:solidFill>
              </a:rPr>
              <a:t>Manipulation DOM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b="1" dirty="0" err="1">
                <a:solidFill>
                  <a:schemeClr val="bg1"/>
                </a:solidFill>
              </a:rPr>
              <a:t>Logique</a:t>
            </a:r>
            <a:r>
              <a:rPr lang="en-CA" b="1" dirty="0">
                <a:solidFill>
                  <a:schemeClr val="bg1"/>
                </a:solidFill>
              </a:rPr>
              <a:t> applicative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bg1"/>
                </a:solidFill>
              </a:rPr>
              <a:t>API / fetch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7E7AA4-B54A-E1F0-BFF2-2850F0980409}"/>
              </a:ext>
            </a:extLst>
          </p:cNvPr>
          <p:cNvSpPr txBox="1"/>
          <p:nvPr/>
        </p:nvSpPr>
        <p:spPr>
          <a:xfrm>
            <a:off x="8911755" y="3037325"/>
            <a:ext cx="2548087" cy="3333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b="1" dirty="0">
                <a:solidFill>
                  <a:schemeClr val="bg1"/>
                </a:solidFill>
              </a:rPr>
              <a:t>🔷 SQL Server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Requêtes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Relations (tables)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Persistance des données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CRUD</a:t>
            </a:r>
          </a:p>
        </p:txBody>
      </p:sp>
    </p:spTree>
    <p:extLst>
      <p:ext uri="{BB962C8B-B14F-4D97-AF65-F5344CB8AC3E}">
        <p14:creationId xmlns:p14="http://schemas.microsoft.com/office/powerpoint/2010/main" val="375842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1FE2E-D202-934E-C738-05E5A513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4408CF7-60E5-4C11-CAFD-8DD150A3C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06ED34-EC4A-9DED-790B-DB22E4353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Black 3D wave patterns">
            <a:extLst>
              <a:ext uri="{FF2B5EF4-FFF2-40B4-BE49-F238E27FC236}">
                <a16:creationId xmlns:a16="http://schemas.microsoft.com/office/drawing/2014/main" id="{D1F4962C-4A0B-E8CE-24AE-6E20DF811C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FB2A40-2FA2-D14F-DA7C-4077BB690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78713"/>
            <a:ext cx="10905066" cy="3525641"/>
          </a:xfrm>
        </p:spPr>
        <p:txBody>
          <a:bodyPr>
            <a:normAutofit/>
          </a:bodyPr>
          <a:lstStyle/>
          <a:p>
            <a:pPr algn="ctr"/>
            <a:br>
              <a:rPr lang="fr-CA" sz="1800" dirty="0">
                <a:solidFill>
                  <a:srgbClr val="FFFFFF"/>
                </a:solidFill>
              </a:rPr>
            </a:br>
            <a:r>
              <a:rPr lang="fr-CA" sz="1800" dirty="0">
                <a:solidFill>
                  <a:srgbClr val="FFFFFF"/>
                </a:solidFill>
              </a:rPr>
              <a:t>Project Management</a:t>
            </a:r>
            <a:endParaRPr lang="fr-CA" sz="18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DA8F4-3AD2-9FC2-BE54-395EFA7F8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76" y="4527856"/>
            <a:ext cx="10993756" cy="1781833"/>
          </a:xfrm>
        </p:spPr>
        <p:txBody>
          <a:bodyPr anchor="b">
            <a:normAutofit/>
          </a:bodyPr>
          <a:lstStyle/>
          <a:p>
            <a:r>
              <a:rPr lang="fr-CA" noProof="0" dirty="0">
                <a:solidFill>
                  <a:srgbClr val="FFFFFF"/>
                </a:solidFill>
              </a:rPr>
              <a:t>Utilisation de JIRA pour garder l'équipe dans le roulement du développement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FFC10D-FFEE-350B-6EF3-A10C76623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F76B250-7E8A-5888-ECDE-FCA1C64E7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47E36B6-92BE-0C94-EEFD-813B90ED9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42" y="1357438"/>
            <a:ext cx="9938657" cy="400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936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76282-B95B-6F10-3907-0CADB3A2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8541CB8-FCAD-6DCC-52DB-5651BC438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905D6F-92FD-F5FF-88D4-FF85662C4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pic>
        <p:nvPicPr>
          <p:cNvPr id="4" name="Picture 3" descr="Black 3D wave patterns">
            <a:extLst>
              <a:ext uri="{FF2B5EF4-FFF2-40B4-BE49-F238E27FC236}">
                <a16:creationId xmlns:a16="http://schemas.microsoft.com/office/drawing/2014/main" id="{3B15F93F-4817-F714-1B32-1D93283E15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>
            <a:fillRect/>
          </a:stretch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0AD61C-B20E-DA21-1929-21FA819B3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78713"/>
            <a:ext cx="10905066" cy="3525641"/>
          </a:xfrm>
        </p:spPr>
        <p:txBody>
          <a:bodyPr>
            <a:normAutofit/>
          </a:bodyPr>
          <a:lstStyle/>
          <a:p>
            <a:pPr algn="ctr"/>
            <a:br>
              <a:rPr lang="fr-CA" sz="1800" dirty="0">
                <a:solidFill>
                  <a:srgbClr val="FFFFFF"/>
                </a:solidFill>
              </a:rPr>
            </a:br>
            <a:r>
              <a:rPr lang="fr-CA" sz="1800" dirty="0">
                <a:solidFill>
                  <a:srgbClr val="FFFFFF"/>
                </a:solidFill>
              </a:rPr>
              <a:t>Project Management</a:t>
            </a:r>
            <a:endParaRPr lang="fr-CA" sz="18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93621-86F3-461A-9DF5-319C6C1F3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76" y="4527856"/>
            <a:ext cx="10993756" cy="1781833"/>
          </a:xfrm>
        </p:spPr>
        <p:txBody>
          <a:bodyPr anchor="b">
            <a:normAutofit/>
          </a:bodyPr>
          <a:lstStyle/>
          <a:p>
            <a:r>
              <a:rPr lang="fr-CA" noProof="0" dirty="0">
                <a:solidFill>
                  <a:srgbClr val="FFFFFF"/>
                </a:solidFill>
              </a:rPr>
              <a:t>Utilisation de GitHub pour </a:t>
            </a:r>
            <a:r>
              <a:rPr lang="fr-CA" dirty="0">
                <a:solidFill>
                  <a:srgbClr val="FFFFFF"/>
                </a:solidFill>
              </a:rPr>
              <a:t>développer chaque </a:t>
            </a:r>
            <a:r>
              <a:rPr lang="fr-CA">
                <a:solidFill>
                  <a:srgbClr val="FFFFFF"/>
                </a:solidFill>
              </a:rPr>
              <a:t>partie simultanément</a:t>
            </a:r>
            <a:endParaRPr lang="fr-CA" noProof="0" dirty="0">
              <a:solidFill>
                <a:srgbClr val="FFFFFF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37C8998-6721-E6D5-8AA4-D6EE828EF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8821EB-58AA-4FF8-7C18-E46BB7EE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D61A4A4-D715-16E7-4295-51DD03287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848" y="1273631"/>
            <a:ext cx="5901612" cy="458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57659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masis">
      <a:dk1>
        <a:sysClr val="windowText" lastClr="000000"/>
      </a:dk1>
      <a:lt1>
        <a:sysClr val="window" lastClr="FFFFFF"/>
      </a:lt1>
      <a:dk2>
        <a:srgbClr val="470401"/>
      </a:dk2>
      <a:lt2>
        <a:srgbClr val="EBE2E2"/>
      </a:lt2>
      <a:accent1>
        <a:srgbClr val="BD1209"/>
      </a:accent1>
      <a:accent2>
        <a:srgbClr val="F40600"/>
      </a:accent2>
      <a:accent3>
        <a:srgbClr val="F26216"/>
      </a:accent3>
      <a:accent4>
        <a:srgbClr val="F0800D"/>
      </a:accent4>
      <a:accent5>
        <a:srgbClr val="3EA8B6"/>
      </a:accent5>
      <a:accent6>
        <a:srgbClr val="005B6B"/>
      </a:accent6>
      <a:hlink>
        <a:srgbClr val="F40600"/>
      </a:hlink>
      <a:folHlink>
        <a:srgbClr val="1C7E8E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DFFB3BA7F9994BAB21D21DB8AD8C8F" ma:contentTypeVersion="11" ma:contentTypeDescription="Create a new document." ma:contentTypeScope="" ma:versionID="f688a17a16d2aa514b111db44d443cbe">
  <xsd:schema xmlns:xsd="http://www.w3.org/2001/XMLSchema" xmlns:xs="http://www.w3.org/2001/XMLSchema" xmlns:p="http://schemas.microsoft.com/office/2006/metadata/properties" xmlns:ns3="642c8c79-52d1-4beb-b16c-edb0d6a4effa" targetNamespace="http://schemas.microsoft.com/office/2006/metadata/properties" ma:root="true" ma:fieldsID="59a3ac35eaabd2995de62b1e4a5b2dfb" ns3:_="">
    <xsd:import namespace="642c8c79-52d1-4beb-b16c-edb0d6a4eff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2c8c79-52d1-4beb-b16c-edb0d6a4eff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2c8c79-52d1-4beb-b16c-edb0d6a4effa" xsi:nil="true"/>
  </documentManagement>
</p:properties>
</file>

<file path=customXml/itemProps1.xml><?xml version="1.0" encoding="utf-8"?>
<ds:datastoreItem xmlns:ds="http://schemas.openxmlformats.org/officeDocument/2006/customXml" ds:itemID="{814ACEC5-893C-4532-9276-A4D5617488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2c8c79-52d1-4beb-b16c-edb0d6a4ef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A6BE6E-A25A-4642-B07E-995A559E0F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4A8E4D-49EB-4AE1-94A4-D548BABA5DB9}">
  <ds:schemaRefs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642c8c79-52d1-4beb-b16c-edb0d6a4effa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513b79f-ce8d-43d6-b7e5-c12d3e236916}" enabled="1" method="Standard" siteId="{ad8a84ef-f1f3-4b14-ad08-b99ca66f7e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Hôtel de la promenade</Template>
  <TotalTime>0</TotalTime>
  <Words>174</Words>
  <Application>Microsoft Office PowerPoint</Application>
  <PresentationFormat>Widescreen</PresentationFormat>
  <Paragraphs>47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Amasis MT Pro Medium</vt:lpstr>
      <vt:lpstr>Aptos</vt:lpstr>
      <vt:lpstr>Arial</vt:lpstr>
      <vt:lpstr>Univers Light</vt:lpstr>
      <vt:lpstr>TribuneVTI</vt:lpstr>
      <vt:lpstr>Hôtel de la promenade    Application Web   Gestion d’évènement</vt:lpstr>
      <vt:lpstr>Présentation globale du Frontend (UI)</vt:lpstr>
      <vt:lpstr>Présentation du Frontend (UI)</vt:lpstr>
      <vt:lpstr> Fonctionnalités</vt:lpstr>
      <vt:lpstr> Fonctionnalités</vt:lpstr>
      <vt:lpstr>Architecture du Code et structure des dossiers</vt:lpstr>
      <vt:lpstr> Authentification | Gestion des rôles</vt:lpstr>
      <vt:lpstr> Tests techniques </vt:lpstr>
      <vt:lpstr> Technologies</vt:lpstr>
      <vt:lpstr> Project Management</vt:lpstr>
      <vt:lpstr> Project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Labrosse</dc:creator>
  <cp:lastModifiedBy>Gabriel Labrosse</cp:lastModifiedBy>
  <cp:revision>1</cp:revision>
  <dcterms:created xsi:type="dcterms:W3CDTF">2026-03-27T13:14:40Z</dcterms:created>
  <dcterms:modified xsi:type="dcterms:W3CDTF">2026-03-27T13:14:54Z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0x010100CCDFFB3BA7F9994BAB21D21DB8AD8C8F</vt:lpwstr>
  </property>
</Properties>
</file>